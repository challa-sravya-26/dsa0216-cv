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276" r:id="rId3"/>
    <p:sldId id="286" r:id="rId4"/>
    <p:sldId id="258" r:id="rId5"/>
    <p:sldId id="284" r:id="rId6"/>
    <p:sldId id="278" r:id="rId7"/>
    <p:sldId id="280" r:id="rId8"/>
    <p:sldId id="279" r:id="rId9"/>
    <p:sldId id="282" r:id="rId10"/>
    <p:sldId id="285" r:id="rId11"/>
    <p:sldId id="281" r:id="rId12"/>
    <p:sldId id="283" r:id="rId13"/>
    <p:sldId id="263" r:id="rId14"/>
    <p:sldId id="264" r:id="rId15"/>
    <p:sldId id="266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4A7C5-1E3E-32FB-E392-804F565B619E}" v="1" dt="2026-02-17T15:44:45.640"/>
    <p1510:client id="{59F4309F-5470-ED95-9F1F-E1D5F47E0252}" v="206" dt="2026-02-18T03:14:36.309"/>
    <p1510:client id="{BA42D35D-038F-4C65-9292-7E96DD99AB35}" v="131" dt="2026-02-18T03:52:18.193"/>
    <p1510:client id="{C5F121A0-984D-136B-5995-FFD2B28848E5}" v="5" dt="2026-02-18T15:11:22.053"/>
    <p1510:client id="{D6C018C7-00D1-47DD-E754-26012E82CD5D}" v="1164" dt="2026-02-18T03:56:59.716"/>
    <p1510:client id="{E0B8935A-BB3C-7914-1B94-6BE02B526413}" v="34" dt="2026-02-18T05:29:43.935"/>
    <p1510:client id="{FBF0F64D-AB91-9826-CF46-02647FC97D21}" v="397" dt="2026-02-18T03:33:56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25136-5ED4-4B1B-932B-1F1204C44DD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2AF7-3E0C-4318-A316-F2AB5DA65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9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4B54-3737-922C-5CA3-9AD12263533F}"/>
              </a:ext>
            </a:extLst>
          </p:cNvPr>
          <p:cNvSpPr txBox="1">
            <a:spLocks/>
          </p:cNvSpPr>
          <p:nvPr/>
        </p:nvSpPr>
        <p:spPr>
          <a:xfrm>
            <a:off x="724271" y="1117761"/>
            <a:ext cx="10358462" cy="16784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REALTIME PLANT LEAF DISEASE CLASSIFICATION WITH OPENCV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39903-6430-10BA-86E5-FD19AE776D7A}"/>
              </a:ext>
            </a:extLst>
          </p:cNvPr>
          <p:cNvSpPr txBox="1">
            <a:spLocks/>
          </p:cNvSpPr>
          <p:nvPr/>
        </p:nvSpPr>
        <p:spPr>
          <a:xfrm>
            <a:off x="357352" y="4432926"/>
            <a:ext cx="4552335" cy="223344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/>
                <a:cs typeface="Times New Roman"/>
              </a:rPr>
              <a:t>Presented by: 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/>
                <a:cs typeface="Times New Roman"/>
              </a:rPr>
              <a:t>CH.SRAVYA(192424372)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/>
                <a:cs typeface="Times New Roman"/>
              </a:rPr>
              <a:t>S.YASO PRIYA(192424394)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420B1-CC17-A64E-567B-CD3D7CDBA3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8560" y="4243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EB5F2-1997-C2D6-C7CA-2C2C2A4AB9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367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73C988-0376-568C-922E-B57C4B2E9F5B}"/>
              </a:ext>
            </a:extLst>
          </p:cNvPr>
          <p:cNvSpPr txBox="1"/>
          <p:nvPr/>
        </p:nvSpPr>
        <p:spPr>
          <a:xfrm>
            <a:off x="724271" y="2850816"/>
            <a:ext cx="1093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DSA0216-COMPUTER VISION WITH OPEN CV FOR MODERN AI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2123C-C486-0EF6-15A8-F331D44C24DE}"/>
              </a:ext>
            </a:extLst>
          </p:cNvPr>
          <p:cNvSpPr txBox="1"/>
          <p:nvPr/>
        </p:nvSpPr>
        <p:spPr>
          <a:xfrm>
            <a:off x="8034733" y="4272350"/>
            <a:ext cx="4058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GUIDED BY:</a:t>
            </a:r>
          </a:p>
          <a:p>
            <a:pPr algn="just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algn="just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</a:t>
            </a:r>
            <a:endParaRPr lang="en-IN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7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02AB-F767-7946-916A-F52648EB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4E8316-8428-BC05-5E81-572BB79244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9DA925-CB0C-1D59-B1A8-78C9F1A7DF8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3584C-A9CE-3168-631D-4D60E2FE9FD5}"/>
              </a:ext>
            </a:extLst>
          </p:cNvPr>
          <p:cNvSpPr txBox="1"/>
          <p:nvPr/>
        </p:nvSpPr>
        <p:spPr>
          <a:xfrm>
            <a:off x="4013192" y="668956"/>
            <a:ext cx="31453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3600" b="1">
                <a:latin typeface="Times New Roman"/>
                <a:ea typeface="Calibri"/>
                <a:cs typeface="Times New Roman"/>
              </a:rPr>
              <a:t>Introduction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5A97-E39F-8EB5-B0BC-2A08BC8BDA67}"/>
              </a:ext>
            </a:extLst>
          </p:cNvPr>
          <p:cNvSpPr txBox="1"/>
          <p:nvPr/>
        </p:nvSpPr>
        <p:spPr>
          <a:xfrm>
            <a:off x="340543" y="1348610"/>
            <a:ext cx="11420224" cy="5115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Overview of the Project: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A real-time system using OpenCV and AI to classify plant leaf diseases from images.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Processes input images through preprocessing, feature extraction, and CNN-based classification.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Provides instant audio feedback to users (e.g., farmers) for actionable results.</a:t>
            </a:r>
          </a:p>
          <a:p>
            <a:pPr marL="347345" indent="-347345" algn="just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Problem Statement: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Manual disease detection is slow, expensive, and requires expertise, limiting accessibility for farmers.</a:t>
            </a:r>
            <a:endParaRPr lang="en-US" sz="2000" kern="1200">
              <a:latin typeface="Times New Roman"/>
              <a:ea typeface="Calibri"/>
              <a:cs typeface="Times New Roman"/>
            </a:endParaRP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Late diagnosis leads to significant crop loss, impacting food security and farmer livelihoods.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Existing solutions lack real-time, low-cost, and user-friendly (e.g., non-technical) interfaces.</a:t>
            </a:r>
          </a:p>
          <a:p>
            <a:pPr marL="347345" indent="-347345" algn="just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Purpose of the Project: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Automate early disease detection to minimize crop losses and boost agricultural productivity.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Democratize access via a simple, cost-effective tool with audio-based results for farmers.</a:t>
            </a:r>
          </a:p>
        </p:txBody>
      </p:sp>
    </p:spTree>
    <p:extLst>
      <p:ext uri="{BB962C8B-B14F-4D97-AF65-F5344CB8AC3E}">
        <p14:creationId xmlns:p14="http://schemas.microsoft.com/office/powerpoint/2010/main" val="407119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B45C-AE3A-166C-A0E8-850E097E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A7FA-E668-9B05-92A5-065A0FCB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Problem Statement</a:t>
            </a:r>
            <a:br>
              <a:rPr lang="en-US" sz="3600" b="1">
                <a:latin typeface="Times New Roman"/>
                <a:cs typeface="Times New Roman"/>
              </a:rPr>
            </a:br>
            <a:endParaRPr lang="en-US" sz="36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06589-DBFC-CA12-C782-75207EF7BE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1852D5-A17A-D207-9B77-3486A7C4E4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3A10576-AFA5-4744-44F7-EF1A6DD0A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824" y="1844334"/>
            <a:ext cx="10782607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Losses Due to Diseases: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diseases such as Brown Spot, Leaf Blast, and Leaf Smut significantly reduce crop yield, directly affecting farmers’ income.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Limitations: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identification is slow, requires expert knowledge, and is prone to errors.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diseases have similar visual symptoms, causing misdiagnosis and wrong treatments.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and Inaccessibility of Laboratory Testing: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for plant diseases is expensive, time-consuming, and impractical for small-scale farmers.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70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548" y="1877007"/>
            <a:ext cx="11321903" cy="458959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build a system that can detect plant leaf diseases automatically.</a:t>
            </a:r>
            <a:endParaRPr lang="en-US" sz="2000" b="1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make the system fast and accurate in real-time.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reduce the time taken for disease identification.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provide voice output so farmers can easily understand the results.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make the system work on mobile or low-cost devices.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4F09-7FFA-1AF9-7FE7-A2FAA8A0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300E3A-244D-FF98-1E8B-388E735D579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BEC69C-4523-6992-69B0-76A0A9767C5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042614-10E6-D919-78EB-0FF8F61C8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45" b="4729"/>
          <a:stretch>
            <a:fillRect/>
          </a:stretch>
        </p:blipFill>
        <p:spPr>
          <a:xfrm>
            <a:off x="619431" y="1671485"/>
            <a:ext cx="10649565" cy="452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D5CCFF-A7DB-531A-C7AD-D362ED22A3C9}"/>
              </a:ext>
            </a:extLst>
          </p:cNvPr>
          <p:cNvSpPr txBox="1"/>
          <p:nvPr/>
        </p:nvSpPr>
        <p:spPr>
          <a:xfrm>
            <a:off x="2901863" y="51669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System  Architecture</a:t>
            </a:r>
            <a:endParaRPr lang="en-US" sz="3600" b="1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6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C09F-D905-1D21-050C-D31C14E0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3058D7-B8D5-9606-E43D-5AC73CB5EB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F9B76A-1787-A11E-F46B-63FE394CD18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866B4F-EFD2-C7F0-EDE4-FF3DB56F1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179325"/>
              </p:ext>
            </p:extLst>
          </p:nvPr>
        </p:nvGraphicFramePr>
        <p:xfrm>
          <a:off x="550606" y="1600200"/>
          <a:ext cx="10972803" cy="4585182"/>
        </p:xfrm>
        <a:graphic>
          <a:graphicData uri="http://schemas.openxmlformats.org/drawingml/2006/table">
            <a:tbl>
              <a:tblPr/>
              <a:tblGrid>
                <a:gridCol w="1583001">
                  <a:extLst>
                    <a:ext uri="{9D8B030D-6E8A-4147-A177-3AD203B41FA5}">
                      <a16:colId xmlns:a16="http://schemas.microsoft.com/office/drawing/2014/main" val="1310934019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2932886171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1268528801"/>
                    </a:ext>
                  </a:extLst>
                </a:gridCol>
                <a:gridCol w="1569878">
                  <a:extLst>
                    <a:ext uri="{9D8B030D-6E8A-4147-A177-3AD203B41FA5}">
                      <a16:colId xmlns:a16="http://schemas.microsoft.com/office/drawing/2014/main" val="3058778412"/>
                    </a:ext>
                  </a:extLst>
                </a:gridCol>
                <a:gridCol w="1560056">
                  <a:extLst>
                    <a:ext uri="{9D8B030D-6E8A-4147-A177-3AD203B41FA5}">
                      <a16:colId xmlns:a16="http://schemas.microsoft.com/office/drawing/2014/main" val="3421465567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1205368533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3789422315"/>
                    </a:ext>
                  </a:extLst>
                </a:gridCol>
              </a:tblGrid>
              <a:tr h="21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Year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Author(s)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Title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Limitations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546407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Sharma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Deep Learning Based Paddy Disease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(Convolutional Neural Network)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Kaggle Paddy Leaf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92%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Limited to image upload only, no real-time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456362"/>
                  </a:ext>
                </a:extLst>
              </a:tr>
              <a:tr h="85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Reddy &amp; Kumar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Rice Leaf Disease Classification Using Transfer Learning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MobileNetV2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Custom Field Images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94%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No multilingual support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915232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Singh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Real-Time Crop Disease Detection Using AI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OpenCV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Field-collected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95%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No audio explanation for farmers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648778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Priya &amp; Manikandan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Smart Agriculture Using Deep Learning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ResNet50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Rice Plant Village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96%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Works only in English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153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Zhang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Multilingual AI-Based Crop Monitoring System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NLP + TTS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Multi-country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97%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Requires high processing power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40626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Patel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IoT Enabled Real-Time Paddy Disease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IoT Sensors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Live Farm Data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96%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Expensive hardware setup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846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4FF922-2142-8D5A-E131-CDFDE7D09A15}"/>
              </a:ext>
            </a:extLst>
          </p:cNvPr>
          <p:cNvSpPr txBox="1"/>
          <p:nvPr/>
        </p:nvSpPr>
        <p:spPr>
          <a:xfrm>
            <a:off x="2599151" y="652397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Times New Roman"/>
                <a:ea typeface="+mn-lt"/>
                <a:cs typeface="Times New Roman"/>
              </a:rPr>
              <a:t>Literature Review</a:t>
            </a:r>
            <a:endParaRPr lang="en-US" sz="4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822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4282-AB3B-B1BE-9DD0-AD2BA38B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8DD206-5E7C-508D-2BFE-2568271AD9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67FA05-88CE-846C-03BB-0EC8CA4C50C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E01C6-71F4-6325-00B9-87B6C727153E}"/>
              </a:ext>
            </a:extLst>
          </p:cNvPr>
          <p:cNvSpPr txBox="1"/>
          <p:nvPr/>
        </p:nvSpPr>
        <p:spPr>
          <a:xfrm>
            <a:off x="2517058" y="141799"/>
            <a:ext cx="69907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of  plant leaf images</a:t>
            </a:r>
            <a: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696BC-7DA9-2790-98B1-28D36A30C026}"/>
              </a:ext>
            </a:extLst>
          </p:cNvPr>
          <p:cNvSpPr txBox="1"/>
          <p:nvPr/>
        </p:nvSpPr>
        <p:spPr>
          <a:xfrm>
            <a:off x="236714" y="1276039"/>
            <a:ext cx="12191663" cy="5576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Objective: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Prepare raw plant leaf images for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accurate disease detection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Enhance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relevant features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reduce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noise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in images.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Standardize images to make them suitable as input for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CNN model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Step 1: Image Acquisition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Leaf images can be collected using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camera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or a pre-existing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dataset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Images often vary in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lighting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angle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and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background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Raw images are usually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noisy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inconsistent.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Poor-quality images can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reduce model accuracy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Step 2: Resizing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Resize all images to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fixed dimension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(e.g., 224x224 pixels).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Standardization ensures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uniform input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for CNN and efficient processing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9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029D-2207-75C8-3279-363EEF97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0840AB-8F65-8EEC-7082-AC898E4B41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6D8F5-AE01-AFB9-53BC-ADDFC63B17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B6B402-9F81-FE7A-50A8-5060CFFE0374}"/>
              </a:ext>
            </a:extLst>
          </p:cNvPr>
          <p:cNvSpPr txBox="1"/>
          <p:nvPr/>
        </p:nvSpPr>
        <p:spPr>
          <a:xfrm>
            <a:off x="292277" y="1393519"/>
            <a:ext cx="11597011" cy="6777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cs typeface="Times New Roman"/>
              </a:rPr>
              <a:t>Step 3: Color Conversion:</a:t>
            </a:r>
            <a:endParaRPr lang="en-US" sz="2400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Convert images to </a:t>
            </a:r>
            <a:r>
              <a:rPr lang="en-US" sz="2000" b="1">
                <a:latin typeface="Times New Roman"/>
                <a:cs typeface="Times New Roman"/>
              </a:rPr>
              <a:t>RGB</a:t>
            </a:r>
            <a:r>
              <a:rPr lang="en-US" sz="2000">
                <a:latin typeface="Times New Roman"/>
                <a:cs typeface="Times New Roman"/>
              </a:rPr>
              <a:t> format if not already in RGB.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RGB preserves </a:t>
            </a:r>
            <a:r>
              <a:rPr lang="en-US" sz="2000" b="1">
                <a:latin typeface="Times New Roman"/>
                <a:cs typeface="Times New Roman"/>
              </a:rPr>
              <a:t>leaf color patterns</a:t>
            </a:r>
            <a:r>
              <a:rPr lang="en-US" sz="2000">
                <a:latin typeface="Times New Roman"/>
                <a:cs typeface="Times New Roman"/>
              </a:rPr>
              <a:t>, essential for identifying diseases.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cs typeface="Times New Roman"/>
              </a:rPr>
              <a:t>Step 4: Noise Removal / Smoothing: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Apply </a:t>
            </a:r>
            <a:r>
              <a:rPr lang="en-US" sz="2000" b="1">
                <a:latin typeface="Times New Roman"/>
                <a:cs typeface="Times New Roman"/>
              </a:rPr>
              <a:t>Gaussian Blur</a:t>
            </a:r>
            <a:r>
              <a:rPr lang="en-US" sz="2000">
                <a:latin typeface="Times New Roman"/>
                <a:cs typeface="Times New Roman"/>
              </a:rPr>
              <a:t> or </a:t>
            </a:r>
            <a:r>
              <a:rPr lang="en-US" sz="2000" b="1">
                <a:latin typeface="Times New Roman"/>
                <a:cs typeface="Times New Roman"/>
              </a:rPr>
              <a:t>Median Filtering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Removes </a:t>
            </a:r>
            <a:r>
              <a:rPr lang="en-US" sz="2000" b="1">
                <a:latin typeface="Times New Roman"/>
                <a:cs typeface="Times New Roman"/>
              </a:rPr>
              <a:t>unwanted noise</a:t>
            </a:r>
            <a:r>
              <a:rPr lang="en-US" sz="2000">
                <a:latin typeface="Times New Roman"/>
                <a:cs typeface="Times New Roman"/>
              </a:rPr>
              <a:t> like shadows, dirt, or small artifacts.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Helps the model focus on </a:t>
            </a:r>
            <a:r>
              <a:rPr lang="en-US" sz="2000" b="1">
                <a:latin typeface="Times New Roman"/>
                <a:cs typeface="Times New Roman"/>
              </a:rPr>
              <a:t>disease patterns</a:t>
            </a:r>
            <a:r>
              <a:rPr lang="en-US" sz="2000">
                <a:latin typeface="Times New Roman"/>
                <a:cs typeface="Times New Roman"/>
              </a:rPr>
              <a:t> rather than random pixels.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Step 5: Contrast Enhancement :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Use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Histogram Equalization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or similar techniques. 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Enhances contrast between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diseased spots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and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healthy areas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. 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Makes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lesions or blight areas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more distinguishable. </a:t>
            </a:r>
            <a:endParaRPr lang="en-US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99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8D41-FC2C-573E-F174-F597B846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0FAAB8-A9B1-D735-B0EC-D94681F2CA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394BC0-D094-C66D-D366-070171742FD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D5522F-E0E7-8963-9865-85FD8E738698}"/>
              </a:ext>
            </a:extLst>
          </p:cNvPr>
          <p:cNvSpPr txBox="1"/>
          <p:nvPr/>
        </p:nvSpPr>
        <p:spPr>
          <a:xfrm>
            <a:off x="354904" y="1550096"/>
            <a:ext cx="9175314" cy="3268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Step 6: Normalization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28600" lvl="0" indent="-228600" rtl="0">
              <a:lnSpc>
                <a:spcPct val="150000"/>
              </a:lnSpc>
              <a:buFont typeface="Arial,Sans-Serif"/>
              <a:buChar char="•"/>
            </a:pPr>
            <a:r>
              <a:rPr lang="en-US" sz="2000" baseline="0">
                <a:latin typeface="Times New Roman"/>
                <a:ea typeface="Arial"/>
                <a:cs typeface="Times New Roman"/>
              </a:rPr>
              <a:t>Scale pixel values to the range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0–1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 by dividing by 255.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</a:p>
          <a:p>
            <a:pPr marL="228600" lvl="0" indent="-228600" rtl="0">
              <a:lnSpc>
                <a:spcPct val="150000"/>
              </a:lnSpc>
              <a:buFont typeface="Arial,Sans-Serif"/>
              <a:buChar char="•"/>
            </a:pPr>
            <a:r>
              <a:rPr lang="en-US" sz="2000" baseline="0">
                <a:latin typeface="Times New Roman"/>
                <a:ea typeface="Arial"/>
                <a:cs typeface="Times New Roman"/>
              </a:rPr>
              <a:t>Improves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training stability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 and accelerates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CNN convergence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.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Step 7: Data Augmentation: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Generate additional images via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rotation, flipping, zooming, or shifting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Prevents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overfitting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improves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model robustness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813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C244-3D41-CE50-FD60-80ECD139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86C880-F91C-56A2-5DEA-DB7151DED2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89DDE0-E348-CB8F-EEC9-6F14829674B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AA40A-84D6-8B6A-82E4-92633ABCC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271" y="1576015"/>
            <a:ext cx="4518431" cy="4935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FD83E5-3057-2258-C92C-7CB39E03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10" y="1576015"/>
            <a:ext cx="5875309" cy="4470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4FF7DC-C315-A9A2-2261-98EAB600D9F4}"/>
              </a:ext>
            </a:extLst>
          </p:cNvPr>
          <p:cNvSpPr txBox="1"/>
          <p:nvPr/>
        </p:nvSpPr>
        <p:spPr>
          <a:xfrm>
            <a:off x="2610970" y="1905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IMPLEMENTATION</a:t>
            </a:r>
            <a:endParaRPr lang="en-US" sz="36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148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C3183-BD1A-DD7A-BA11-FB4A82BA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FFD4F7-822F-6282-8D86-8AE55D47920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2E805F-BF55-3C39-72EA-6DE3E0852F0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9F1B4F-0B93-8549-4894-ECF2732552BA}"/>
              </a:ext>
            </a:extLst>
          </p:cNvPr>
          <p:cNvSpPr txBox="1"/>
          <p:nvPr/>
        </p:nvSpPr>
        <p:spPr>
          <a:xfrm>
            <a:off x="1775693" y="47627"/>
            <a:ext cx="883920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376092"/>
                </a:solidFill>
                <a:latin typeface="Times New Roman"/>
                <a:ea typeface="Calibri"/>
                <a:cs typeface="Times New Roman"/>
              </a:rPr>
              <a:t>Module 2: Disease identification and declaring audio  results</a:t>
            </a:r>
            <a:endParaRPr lang="en-US" sz="3600" b="1">
              <a:latin typeface="Times New Roman"/>
              <a:cs typeface="Times New Roman"/>
            </a:endParaRPr>
          </a:p>
          <a:p>
            <a:pPr algn="ctr"/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5A737-43AA-05C6-EF40-AA80F87B14BE}"/>
              </a:ext>
            </a:extLst>
          </p:cNvPr>
          <p:cNvSpPr txBox="1"/>
          <p:nvPr/>
        </p:nvSpPr>
        <p:spPr>
          <a:xfrm>
            <a:off x="395390" y="1801953"/>
            <a:ext cx="9912648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Disease Detection with AI Model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Process images through a fine-tuned CNN  for accurate disease classification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Generate confidence scores and visual markers (e.g., bounding boxes) for detected symptoms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Multi-Language Audio Alerts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Integrate TTS engines (e.g., Google TTS, AWS Polly) for real-time spoken diagnoses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Support multiple languages for farmers' accessibility with adjustable speech rate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Visual Dashboard Display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Show live camera feed with overlaid disease info (class, confidence %, treatment tips)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Include historical data graphs to track disease progression over time</a:t>
            </a:r>
            <a:endParaRPr lang="en-US" sz="2000" dirty="0">
              <a:latin typeface="Times New Roman"/>
              <a:cs typeface="Times New Roman"/>
            </a:endParaRPr>
          </a:p>
          <a:p>
            <a:pPr algn="l"/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60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69DD-6C2D-CADB-1F8D-64B9FE28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0E44BF-B66A-1599-C572-1874C1A994B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8517AF-7ADF-2113-DBA5-3CBF2F649D3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22E597-42D0-CC85-A537-73FFE0858B0F}"/>
              </a:ext>
            </a:extLst>
          </p:cNvPr>
          <p:cNvSpPr txBox="1"/>
          <p:nvPr/>
        </p:nvSpPr>
        <p:spPr>
          <a:xfrm>
            <a:off x="2520494" y="191715"/>
            <a:ext cx="750416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>
                <a:ea typeface="Calibri"/>
                <a:cs typeface="Calibri"/>
              </a:rPr>
              <a:t>Modules 2 demonstration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3" name="Picture 2" descr="A screenshot of a video player&#10;&#10;AI-generated content may be incorrect.">
            <a:extLst>
              <a:ext uri="{FF2B5EF4-FFF2-40B4-BE49-F238E27FC236}">
                <a16:creationId xmlns:a16="http://schemas.microsoft.com/office/drawing/2014/main" id="{C67E92AF-4D04-4E84-874A-6D4EDBCE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46" y="1164167"/>
            <a:ext cx="5700276" cy="5016500"/>
          </a:xfrm>
          <a:prstGeom prst="rect">
            <a:avLst/>
          </a:prstGeom>
        </p:spPr>
      </p:pic>
      <p:pic>
        <p:nvPicPr>
          <p:cNvPr id="4" name="Picture 3" descr="A screenshot of a plant&#10;&#10;AI-generated content may be incorrect.">
            <a:extLst>
              <a:ext uri="{FF2B5EF4-FFF2-40B4-BE49-F238E27FC236}">
                <a16:creationId xmlns:a16="http://schemas.microsoft.com/office/drawing/2014/main" id="{E1F45D2B-AB7B-AFAB-E685-5560B85AF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07" y="1164168"/>
            <a:ext cx="5912403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6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/>
                <a:cs typeface="Times New Roman"/>
              </a:rPr>
              <a:t>Results &amp; Discussion</a:t>
            </a:r>
            <a:endParaRPr lang="en-US" sz="3600" b="1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FFF35B-2C26-4681-A4AC-DCF00C27702D}"/>
              </a:ext>
            </a:extLst>
          </p:cNvPr>
          <p:cNvSpPr txBox="1"/>
          <p:nvPr/>
        </p:nvSpPr>
        <p:spPr>
          <a:xfrm>
            <a:off x="815632" y="1628230"/>
            <a:ext cx="10177076" cy="5115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Effective Disease Identification :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1)Successfully classified common leaf diseases with consistent reliability.</a:t>
            </a:r>
          </a:p>
          <a:p>
            <a:pPr lvl="1"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2)  Minor challenges observed with early-stage or symptom-overlapping cases.</a:t>
            </a:r>
          </a:p>
          <a:p>
            <a:pPr marL="742950" lvl="1" indent="-285750">
              <a:lnSpc>
                <a:spcPct val="150000"/>
              </a:lnSpc>
              <a:buAutoNum type="arabicParenR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Optimized Edge Performance 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       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1)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>
                <a:latin typeface="Times New Roman"/>
                <a:ea typeface="Calibri"/>
                <a:cs typeface="Times New Roman"/>
              </a:rPr>
              <a:t>The system works efficiently on mobile phones and low cost devices.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/>
                <a:ea typeface="Calibri"/>
                <a:cs typeface="Times New Roman"/>
              </a:rPr>
              <a:t>        2) Gives fast results in real-time without lag.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Practical User Experience :</a:t>
            </a:r>
            <a:endParaRPr lang="en-US" sz="20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AutoNum type="arabicParenR"/>
            </a:pPr>
            <a:r>
              <a:rPr lang="en-US" sz="2000" dirty="0">
                <a:latin typeface="Times New Roman"/>
                <a:cs typeface="Times New Roman"/>
              </a:rPr>
              <a:t>Instant audio-visual feedback proved intuitive for farmers.</a:t>
            </a:r>
          </a:p>
          <a:p>
            <a:pPr marL="742950" lvl="1" indent="-285750">
              <a:lnSpc>
                <a:spcPct val="150000"/>
              </a:lnSpc>
              <a:buAutoNum type="arabicParenR"/>
            </a:pPr>
            <a:r>
              <a:rPr lang="en-US" sz="2000" dirty="0">
                <a:latin typeface="Times New Roman"/>
                <a:cs typeface="Times New Roman"/>
              </a:rPr>
              <a:t>Field testing proved the system is simple ,reliable and helpful for farmers.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>
                <a:latin typeface="Times New Roman"/>
                <a:cs typeface="Times New Roman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66" y="1737831"/>
            <a:ext cx="10788111" cy="47026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Challenges:</a:t>
            </a: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Some diseases had very few sample images.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The model became better at detecting common diseases than rare ones.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Code optimization was required to improve speed.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Limitations:</a:t>
            </a: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Performance may reduce on low-end smartphones.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Accuracy may slightly decrease on low-power hardware.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Changes in lighting can affect results.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Different leaf angles may reduce detection accuracy.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717F9CC-40F5-DBB1-620C-D84F8F46E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8301" y="1977201"/>
            <a:ext cx="1078598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Developed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real-time plant leaf disease detection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multi-language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Successfully implemented both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camera and image upload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Provided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disease name, description, and audio output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in native languages for farmer accessibility.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 project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enhances farmers’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and helps prevent crop loss.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Demonstrated integration of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AI, computer vision, and web technologies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for practical agriculture solutions.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 system is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scalable, user-friendly, and adaptable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for other crops and languages.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Strengthened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technical, problem-solving, and professional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, preparing for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real-world AI deployment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in agriculture.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740367"/>
            <a:ext cx="10799428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Develop an Android/iOS app with cloud sync for wider accessibility and real-time farmer assistance.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Expand audio feedback to regional languages to enhance usability in diverse agricultural regions.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Drone Deployment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Implement the system on agricultural drones for large-scale field monitoring and early disease detection.</a:t>
            </a:r>
          </a:p>
          <a:p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Microsoft Office PowerPoint</Application>
  <PresentationFormat>Widescreen</PresentationFormat>
  <Paragraphs>164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Problem Statement 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Challenges &amp; Limitations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sravya challa</cp:lastModifiedBy>
  <cp:revision>535</cp:revision>
  <dcterms:created xsi:type="dcterms:W3CDTF">2013-01-27T09:14:16Z</dcterms:created>
  <dcterms:modified xsi:type="dcterms:W3CDTF">2026-02-18T15:14:19Z</dcterms:modified>
  <cp:category/>
</cp:coreProperties>
</file>